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</a:rPr>
              <a:t>DATABASE PROGRAMMING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457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UNILAK KIGALI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Route Courier Logistics &amp; Package Delivery System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806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099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ABUELGASIM (ID: 30686/2025)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5806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INSTRUCTED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6099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Mr. MANIRAGUHA Eric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0" y="5806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INSTITUTION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6099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University of Lay Adventists of Kigali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Swift Route?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A platform that helps a delivery company organize its entire operation in one 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702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0756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A Delivery Manager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One website that helps staff organize packages, see where each driver is, and follow every delivery easily — instead of writing everything on paper.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8745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20756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Track a Package Start to Finish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Every package has a clear status (picked up, on the way, delivered) that updates right away, so everyone knows exactly where it 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🗄️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1330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A Digital Storage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Instead of paper that can get lost or damaged, all information is kept neatly and quickly in a digital database (MongoDB).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39319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41330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One Main Control Screen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A single screen that gathers the most important numbers and statuses, so the manager can see everything at a glance without searching around.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⚠️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We're Solving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5727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The Old Way Has Problems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Writing down packages by hand on paper is slow, and it's easy to make a mistake or forget something.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All the information is scattered, which causes mix-ups, late bills, and accounting errors.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🕳️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15727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No Clear Picture of the 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21488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There's no instant update on where vehicles are, what stage a package is at, or where a driver has reached.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If someone wants to look up an old package, they must search through records for hours.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 w="12700">
            <a:solidFill>
              <a:srgbClr val="F5B5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43484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2A20"/>
                </a:solidFill>
              </a:rPr>
              <a:t>❗ Biggest problem: there's no central report screen, so the manager can't see how the business is doing or catch problems before they happen.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3649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70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🖥️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One Main Website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Build a safe, easy-to-use website that shows all delivery data live, in real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78224" y="1463040"/>
            <a:ext cx="33649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6824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306824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🗃️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01184" y="166420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A Reliable 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06824" y="224028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Connect MongoDB with strict rules that stop wrong or bad data from getting in.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99248" y="1463040"/>
            <a:ext cx="33649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27848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</p:sp>
      <p:sp>
        <p:nvSpPr>
          <p:cNvPr id="17" name="Text 15"/>
          <p:cNvSpPr/>
          <p:nvPr/>
        </p:nvSpPr>
        <p:spPr>
          <a:xfrm>
            <a:off x="792784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22208" y="166420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Clear Number Dashboards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27848" y="224028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Present the most important metrics through clean, easy-to-read charts.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5056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630168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Full, Safe Control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4206240"/>
            <a:ext cx="4599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An authorized staff member can add, edit, or delete data safely and securely.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769864" y="34290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98464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998464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⌨️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92824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Easy for Everyone to Use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98464" y="42062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The website works well with both the mouse and the keyboard, so work goes faster.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We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3856" y="1965960"/>
            <a:ext cx="640080" cy="640080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7" name="Text 5"/>
          <p:cNvSpPr/>
          <p:nvPr/>
        </p:nvSpPr>
        <p:spPr>
          <a:xfrm>
            <a:off x="113385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274320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</a:rPr>
              <a:t>Front 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pages the user sees, built with HTML, CSS, and JavaScript.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173736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965960"/>
            <a:ext cx="640080" cy="64008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274320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</a:rPr>
              <a:t>Back End (Server)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24912" y="320040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Node.js and Express.js receive requests and send back the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18304" y="173736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1965960"/>
            <a:ext cx="640080" cy="6400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28032" y="274320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</a:rPr>
              <a:t>Database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55464" y="320040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MongoDB stores the data, and Mongoose makes it easy to work with.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48856" y="173736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25512" y="1965960"/>
            <a:ext cx="640080" cy="64008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22" name="Text 20"/>
          <p:cNvSpPr/>
          <p:nvPr/>
        </p:nvSpPr>
        <p:spPr>
          <a:xfrm>
            <a:off x="7525512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58584" y="274320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</a:rPr>
              <a:t>Charts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86016" y="320040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Chart.js library turns numbers into easy-to-read charts.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79408" y="173736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56064" y="19659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965606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089136" y="274320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</a:rPr>
              <a:t>Work Tools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16568" y="320040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VS Code for writing code, Postman for testing, Compass for viewing data.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🗺️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Database Is Set 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3317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331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CUSTOMER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8013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013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customer_id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20240" y="18013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939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09397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full_name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20939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3865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865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phone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0240" y="23865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3317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63240"/>
            <a:ext cx="2331720" cy="38404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632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DRIVER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34472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4472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driver_id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20240" y="34472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37398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73989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full_name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20240" y="373989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40325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03250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license_no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20240" y="40325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23317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709160"/>
            <a:ext cx="233172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09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VEHICLE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509320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509320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vehicle_id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20240" y="50932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5385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538581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plate_no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20240" y="53858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" y="56784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567842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type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920240" y="56784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63240" y="141732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63240" y="1417320"/>
            <a:ext cx="25146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3063240" y="14173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PACKAGE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172968" y="18013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11880" y="18013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package_id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09160" y="18013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72968" y="20939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11880" y="209397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sender_id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709160" y="20939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72968" y="23865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11880" y="238658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receiver_id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09160" y="23865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72968" y="26791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11880" y="26791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weight_kg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09160" y="26791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063240" y="352044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63240" y="3520440"/>
            <a:ext cx="251460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8" name="Text 56"/>
          <p:cNvSpPr/>
          <p:nvPr/>
        </p:nvSpPr>
        <p:spPr>
          <a:xfrm>
            <a:off x="3063240" y="3520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DELIVERY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3172968" y="3904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11880" y="39044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delivery_id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709160" y="39044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172968" y="41970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611880" y="419709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package_id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709160" y="419709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172968" y="44897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FK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611880" y="44897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driver_id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709160" y="44897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172968" y="478231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FK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611880" y="47823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vehicle_id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709160" y="47823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063240" y="534924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63240" y="5349240"/>
            <a:ext cx="2514600" cy="38404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3" name="Text 71"/>
          <p:cNvSpPr/>
          <p:nvPr/>
        </p:nvSpPr>
        <p:spPr>
          <a:xfrm>
            <a:off x="3063240" y="5349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PAYMENT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3172968" y="57332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611880" y="57332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payment_id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709160" y="57332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72968" y="60258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611880" y="602589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package_id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709160" y="602589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172968" y="63185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611880" y="63185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amount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709160" y="63185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943600" y="1417320"/>
            <a:ext cx="23317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43600" y="1417320"/>
            <a:ext cx="2331720" cy="3840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85" name="Text 83"/>
          <p:cNvSpPr/>
          <p:nvPr/>
        </p:nvSpPr>
        <p:spPr>
          <a:xfrm>
            <a:off x="5943600" y="14173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HOLIDAY</a:t>
            </a:r>
            <a:endParaRPr lang="en-US" sz="1250" dirty="0"/>
          </a:p>
        </p:txBody>
      </p:sp>
      <p:sp>
        <p:nvSpPr>
          <p:cNvPr id="86" name="Text 84"/>
          <p:cNvSpPr/>
          <p:nvPr/>
        </p:nvSpPr>
        <p:spPr>
          <a:xfrm>
            <a:off x="6053328" y="18013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492240" y="18013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holiday_id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406640" y="18013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053328" y="20939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492240" y="209397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name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7406640" y="20939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053328" y="23865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6492240" y="23865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date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7406640" y="23865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DATE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943600" y="3063240"/>
            <a:ext cx="23317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43600" y="3063240"/>
            <a:ext cx="2331720" cy="38404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97" name="Text 95"/>
          <p:cNvSpPr/>
          <p:nvPr/>
        </p:nvSpPr>
        <p:spPr>
          <a:xfrm>
            <a:off x="5943600" y="30632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CHANGE LOG</a:t>
            </a:r>
            <a:endParaRPr lang="en-US" sz="1250" dirty="0"/>
          </a:p>
        </p:txBody>
      </p:sp>
      <p:sp>
        <p:nvSpPr>
          <p:cNvPr id="98" name="Text 96"/>
          <p:cNvSpPr/>
          <p:nvPr/>
        </p:nvSpPr>
        <p:spPr>
          <a:xfrm>
            <a:off x="6053328" y="34472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PK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492240" y="34472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log_id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7406640" y="34472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NUM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053328" y="37398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492240" y="373989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table_name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7406640" y="373989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053328" y="40325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6492240" y="403250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operation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7406640" y="40325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TXT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641080" y="1417320"/>
            <a:ext cx="3063240" cy="4206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82396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</a:rPr>
              <a:t>💡 How the tables connect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8823960" y="2011680"/>
            <a:ext cx="27432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</a:rPr>
              <a:t>The whole database is linked together using ID numbers between tables: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</a:rPr>
              <a:t>• Each package is linked to two customers: one sender and one receiver.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</a:rPr>
              <a:t>• The Delivery table is what connects the driver, the vehicle, and the package together.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</a:rPr>
              <a:t>• The Payment table is linked directly to each package, so every package has a matching bill.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</a:rPr>
              <a:t>PK = Primary Key (a unique number for each row)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</a:rPr>
              <a:t>FK = Foreign Key (linked to another table)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6</a:t>
            </a:r>
            <a:endParaRPr lang="en-US" sz="1100" dirty="0"/>
          </a:p>
        </p:txBody>
      </p:sp>
      <p:sp>
        <p:nvSpPr>
          <p:cNvPr id="117" name="TextBox 116"/>
          <p:cNvSpPr txBox="1"/>
          <p:nvPr/>
        </p:nvSpPr>
        <p:spPr>
          <a:xfrm>
            <a:off x="457200" y="1060000"/>
            <a:ext cx="9875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 spc="150">
                <a:solidFill>
                  <a:srgbClr val="64748B"/>
                </a:solidFill>
                <a:latin typeface="Arial"/>
              </a:rPr>
              <a:t>ENTITY RELATIONSHIP DIAGRAM (ERD)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2788920" y="1947672"/>
            <a:ext cx="274320" cy="292608"/>
          </a:xfrm>
          <a:prstGeom prst="curvedConnector3">
            <a:avLst/>
          </a:prstGeom>
          <a:ln w="25400" cap="rnd">
            <a:solidFill>
              <a:srgbClr val="2563EB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788920" y="1947672"/>
            <a:ext cx="274320" cy="585216"/>
          </a:xfrm>
          <a:prstGeom prst="curvedConnector3">
            <a:avLst/>
          </a:prstGeom>
          <a:ln w="25400" cap="rnd">
            <a:solidFill>
              <a:srgbClr val="2563EB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830000" y="179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870000" y="211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70000" y="240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2788920" y="3593592"/>
            <a:ext cx="274320" cy="1042416"/>
          </a:xfrm>
          <a:prstGeom prst="curvedConnector3">
            <a:avLst/>
          </a:prstGeom>
          <a:ln w="25400" cap="rnd">
            <a:solidFill>
              <a:srgbClr val="1E8E5A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2830000" y="344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8E5A"/>
                </a:solidFill>
                <a:latin typeface="Arial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870000" y="450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8E5A"/>
                </a:solidFill>
                <a:latin typeface="Arial"/>
              </a:rPr>
              <a:t>M</a:t>
            </a:r>
          </a:p>
        </p:txBody>
      </p:sp>
      <p:cxnSp>
        <p:nvCxnSpPr>
          <p:cNvPr id="126" name="Connector 125"/>
          <p:cNvCxnSpPr/>
          <p:nvPr/>
        </p:nvCxnSpPr>
        <p:spPr>
          <a:xfrm flipV="1">
            <a:off x="2788920" y="4928616"/>
            <a:ext cx="274320" cy="310896"/>
          </a:xfrm>
          <a:prstGeom prst="curvedConnector3">
            <a:avLst/>
          </a:prstGeom>
          <a:ln w="25400" cap="rnd">
            <a:solidFill>
              <a:srgbClr val="B45309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830000" y="5082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Arial"/>
              </a:rPr>
              <a:t>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70000" y="479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Arial"/>
              </a:rPr>
              <a:t>M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577840" y="1947672"/>
            <a:ext cx="0" cy="2395728"/>
          </a:xfrm>
          <a:prstGeom prst="line">
            <a:avLst/>
          </a:prstGeom>
          <a:ln w="25400" cap="rnd">
            <a:solidFill>
              <a:srgbClr val="7C3AED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577840" y="1947672"/>
            <a:ext cx="0" cy="4224528"/>
          </a:xfrm>
          <a:prstGeom prst="line">
            <a:avLst/>
          </a:prstGeom>
          <a:ln w="25400" cap="rnd">
            <a:solidFill>
              <a:srgbClr val="7C3AED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5600000" y="179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00000" y="420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00000" y="6030000"/>
            <a:ext cx="2194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Can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2233"/>
                </a:solidFill>
              </a:rPr>
              <a:t>Live Number Panel: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Calculates the most important numbers right away: total trips, vehicle loads, and active problems.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2233"/>
                </a:solidFill>
              </a:rPr>
              <a:t>Easy Add, Edit, and Delete: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Clear screens to safely add new data, change it, or remove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2233"/>
                </a:solidFill>
              </a:rPr>
              <a:t>Instant Search: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Type one word and get the result right away from the database.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45720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2233"/>
                </a:solidFill>
              </a:rPr>
              <a:t>Keyboard Shortcuts: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Tab to move around, Enter to save, and Escape to close any open window.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1417320"/>
            <a:ext cx="4480560" cy="3291840"/>
          </a:xfrm>
          <a:prstGeom prst="roundRect">
            <a:avLst>
              <a:gd name="adj" fmla="val 3333"/>
            </a:avLst>
          </a:prstGeom>
          <a:solidFill>
            <a:srgbClr val="FDECEA"/>
          </a:solidFill>
          <a:ln w="12700">
            <a:solidFill>
              <a:srgbClr val="F5B5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0"/>
                </a:solidFill>
              </a:rPr>
              <a:t>🔌 Protection When Connection Drops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21031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2A20"/>
                </a:solidFill>
              </a:rPr>
              <a:t>The system watches the connection to the server at all times. If the database connection drops, a clear warning pops up for the user right away.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06640" y="35204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D64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⚠️ Warning: Server Connection Lost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Look at the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933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02A"/>
                </a:solidFill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Total Deliveries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7752" y="1417320"/>
            <a:ext cx="19933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50876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E5A"/>
                </a:solidFill>
              </a:rPr>
              <a:t>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87752" y="201168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Completed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18304" y="1417320"/>
            <a:ext cx="19933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50876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18304" y="201168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Still Pending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48856" y="1417320"/>
            <a:ext cx="19933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856" y="150876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410C"/>
                </a:solidFill>
              </a:rPr>
              <a:t>152,500 RWF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48856" y="201168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Revenue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9408" y="1417320"/>
            <a:ext cx="19933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9408" y="150876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0 days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79408" y="201168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Average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063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🖱️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0358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A Responsive Control Screen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3611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The website shows the most important numbers directly: deliveries, payment status, driver performance, revenue per route, and each vehicle's load.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Everything updates live from the database, without needing to reload the page.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0" y="28346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97880" y="3063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702A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30358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Easy-to-Read Charts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97880" y="3611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Charts show the load percentage of each vehicle, the number of active deliveries, and how work is spread across drivers.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There are also tables listing the latest deliveries and the top-performing drivers.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Results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429768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 Being Tested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We Checked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01. Server Start-Up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Express Server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Server runs correctly on port 5000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02. Data Accuracy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Mongoose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Adding and editing packages works correctly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03. Database Safety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MongoDB Cloud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Data storage rules are working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04. Keyboard Navigation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All buttons work using the keyboard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05. Connection Drop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Alert System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Warning message appears when connection is lost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70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70432" y="365760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5920" y="2743200"/>
            <a:ext cx="886968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74320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</a:rPr>
              <a:t>This is the end of the Swift Route Delivery System presentation.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</a:rPr>
              <a:t>Thank you for your time and guidance! 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2026-07-15T00:04:09Z</dcterms:created>
  <dcterms:modified xsi:type="dcterms:W3CDTF">2026-07-15T00:04:09Z</dcterms:modified>
</cp:coreProperties>
</file>